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這張投影片說明目前證券交易所行情線路的頻寬現況與改善方向。以六月二十五日尖峰時段、上午九點零五分為例,五個行情 IP 的流量分別是:第一 IP 約八 Mbps、第二 IP 約十二 Mbps,這兩者屬於即時訊息;第三 IP 約三 Mbps,屬於快照訊息;第四與第五 IP 都很小,分別只有零點三與零點四 Mbps。五個 IP 合計大約二十三點七 Mbps,再加上櫃買中心的 OTC 行情,總計約三十 Mbps。問題在於,如果同時接收兩條線路的行情資訊,流量就會超過五十 Mbps,超出目前線路的上限。針對頻寬不足,我們提出三項建議:第一,第一與第二 IP 是即時訊息、第三 IP 是快照訊息,資訊商請依自身線路頻寬與需求,擇一接收;第二,依業務需求分流接收,或是只接收一份行情資訊,以降低線路負載;第三,提升硬體線路頻寬,電作部已於去年十二月底發文,全市場都可以申請七十 M 或一百 M 的線路升速,詳細內容請參考投影片下方的連結。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>
                <a:alpha val="50000"/>
              </a:srgbClr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6019800" y="1428750"/>
              <a:ext cx="9525" cy="4238625"/>
            </a:xfrm>
            <a:custGeom>
              <a:avLst/>
              <a:gdLst/>
              <a:ahLst/>
              <a:cxnLst/>
              <a:rect l="l" t="t" r="r" b="b"/>
              <a:pathLst>
                <a:path w="9525" h="4238625">
                  <a:moveTo>
                    <a:pt x="0" y="0"/>
                  </a:moveTo>
                  <a:lnTo>
                    <a:pt x="0" y="4238625"/>
                  </a:lnTo>
                </a:path>
              </a:pathLst>
            </a:custGeom>
            <a:noFill/>
            <a:ln w="14288">
              <a:solidFill>
                <a:srgbClr val="D9E1EC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0" y="0"/>
            <a:ext cx="12192000" cy="938212"/>
            <a:chOff x="0" y="0"/>
            <a:chExt cx="12192000" cy="938212"/>
          </a:xfrm>
        </p:grpSpPr>
        <p:sp>
          <p:nvSpPr>
            <p:cNvPr id="7" name="Rectangle 7"/>
            <p:cNvSpPr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0" y="876300"/>
              <a:ext cx="12192000" cy="381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67665" y="229552"/>
              <a:ext cx="20429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9C2DD"/>
                  </a:solidFill>
                  <a:latin typeface="Arial"/>
                  <a:ea typeface="Microsoft YaHei"/>
                  <a:cs typeface="Arial"/>
                </a:rPr>
                <a:t>TWSE｜證券交易所行情傳輸宣導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52425" y="481012"/>
              <a:ext cx="415266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行情線路頻寬現況與改善建議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048750" y="247650"/>
              <a:ext cx="2762250" cy="419100"/>
            </a:xfrm>
            <a:prstGeom prst="roundRect">
              <a:avLst>
                <a:gd name="adj" fmla="val 22727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9244012" y="409575"/>
              <a:ext cx="142875" cy="95250"/>
            </a:xfrm>
            <a:custGeom>
              <a:avLst/>
              <a:gdLst/>
              <a:ahLst/>
              <a:cxnLst/>
              <a:rect l="l" t="t" r="r" b="b"/>
              <a:pathLst>
                <a:path w="142875" h="95250">
                  <a:moveTo>
                    <a:pt x="0" y="47625"/>
                  </a:moveTo>
                  <a:lnTo>
                    <a:pt x="35719" y="47625"/>
                  </a:lnTo>
                  <a:lnTo>
                    <a:pt x="47625" y="0"/>
                  </a:lnTo>
                  <a:lnTo>
                    <a:pt x="79375" y="95250"/>
                  </a:lnTo>
                  <a:lnTo>
                    <a:pt x="95250" y="23812"/>
                  </a:lnTo>
                  <a:lnTo>
                    <a:pt x="107156" y="47625"/>
                  </a:lnTo>
                  <a:lnTo>
                    <a:pt x="142875" y="47625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91662" y="392906"/>
              <a:ext cx="14612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尖峰時段 6/25 09:05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81000" y="1110615"/>
            <a:ext cx="5381625" cy="3992404"/>
            <a:chOff x="381000" y="1110615"/>
            <a:chExt cx="5381625" cy="3992404"/>
          </a:xfrm>
        </p:grpSpPr>
        <p:sp>
          <p:nvSpPr>
            <p:cNvPr id="15" name="Rectangle 15"/>
            <p:cNvSpPr/>
            <p:nvPr/>
          </p:nvSpPr>
          <p:spPr>
            <a:xfrm>
              <a:off x="381000" y="1123950"/>
              <a:ext cx="47625" cy="209550"/>
            </a:xfrm>
            <a:prstGeom prst="roundRect">
              <a:avLst>
                <a:gd name="adj" fmla="val 4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10540" y="1110615"/>
              <a:ext cx="402781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 xml:space="preserve">現況｜各 IP 尖峰流量 </a:t>
              </a:r>
              <a:r>
                <a:rPr lang="zh-CN" sz="1125" dirty="0">
                  <a:solidFill>
                    <a:srgbClr val="5B6B7B"/>
                  </a:solidFill>
                  <a:latin typeface="Arial"/>
                  <a:ea typeface="Microsoft YaHei"/>
                  <a:cs typeface="Arial"/>
                </a:rPr>
                <a:t>(單位:Mbps)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601004" y="2221706"/>
              <a:ext cx="5161621" cy="2555082"/>
              <a:chOff x="601004" y="2221706"/>
              <a:chExt cx="5161621" cy="2555082"/>
            </a:xfrm>
          </p:grpSpPr>
          <p:sp>
            <p:nvSpPr>
              <p:cNvPr id="17" name="Line 17"/>
              <p:cNvSpPr/>
              <p:nvPr/>
            </p:nvSpPr>
            <p:spPr>
              <a:xfrm>
                <a:off x="809625" y="2419350"/>
                <a:ext cx="4953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9525">
                    <a:moveTo>
                      <a:pt x="0" y="0"/>
                    </a:moveTo>
                    <a:lnTo>
                      <a:pt x="4953000" y="0"/>
                    </a:lnTo>
                  </a:path>
                </a:pathLst>
              </a:custGeom>
              <a:noFill/>
              <a:ln w="9525">
                <a:solidFill>
                  <a:srgbClr val="E3E9F2"/>
                </a:solidFill>
                <a:prstDash val="dash"/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809625" y="3105150"/>
                <a:ext cx="4953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9525">
                    <a:moveTo>
                      <a:pt x="0" y="0"/>
                    </a:moveTo>
                    <a:lnTo>
                      <a:pt x="4953000" y="0"/>
                    </a:lnTo>
                  </a:path>
                </a:pathLst>
              </a:custGeom>
              <a:noFill/>
              <a:ln w="9525">
                <a:solidFill>
                  <a:srgbClr val="E3E9F2"/>
                </a:solidFill>
                <a:prstDash val="dash"/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809625" y="3790950"/>
                <a:ext cx="4953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9525">
                    <a:moveTo>
                      <a:pt x="0" y="0"/>
                    </a:moveTo>
                    <a:lnTo>
                      <a:pt x="4953000" y="0"/>
                    </a:lnTo>
                  </a:path>
                </a:pathLst>
              </a:custGeom>
              <a:noFill/>
              <a:ln w="9525">
                <a:solidFill>
                  <a:srgbClr val="E3E9F2"/>
                </a:solidFill>
                <a:prstDash val="dash"/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809625" y="2419350"/>
                <a:ext cx="9525" cy="2057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57400">
                    <a:moveTo>
                      <a:pt x="0" y="0"/>
                    </a:moveTo>
                    <a:lnTo>
                      <a:pt x="0" y="2057400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809625" y="4476750"/>
                <a:ext cx="4953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9525">
                    <a:moveTo>
                      <a:pt x="0" y="0"/>
                    </a:moveTo>
                    <a:lnTo>
                      <a:pt x="4953000" y="0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640009" y="4409599"/>
                <a:ext cx="9627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75" dirty="0">
                    <a:solidFill>
                      <a:srgbClr val="5B6B7B"/>
                    </a:solidFill>
                    <a:latin typeface="Arial"/>
                    <a:ea typeface="Microsoft YaHei"/>
                    <a:cs typeface="Arial"/>
                  </a:rPr>
                  <a:t>0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40009" y="3723799"/>
                <a:ext cx="9627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75" dirty="0">
                    <a:solidFill>
                      <a:srgbClr val="5B6B7B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40009" y="3037999"/>
                <a:ext cx="9627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75" dirty="0">
                    <a:solidFill>
                      <a:srgbClr val="5B6B7B"/>
                    </a:solidFill>
                    <a:latin typeface="Arial"/>
                    <a:ea typeface="Microsoft YaHei"/>
                    <a:cs typeface="Arial"/>
                  </a:rPr>
                  <a:t>8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01004" y="2352199"/>
                <a:ext cx="1352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75" dirty="0">
                    <a:solidFill>
                      <a:srgbClr val="5B6B7B"/>
                    </a:solidFill>
                    <a:latin typeface="Arial"/>
                    <a:ea typeface="Microsoft YaHei"/>
                    <a:cs typeface="Arial"/>
                  </a:rPr>
                  <a:t>12</a:t>
                </a:r>
              </a:p>
            </p:txBody>
          </p:sp>
          <p:grpSp>
            <p:nvGrpSpPr>
              <p:cNvPr id="29" name="Group 29"/>
              <p:cNvGrpSpPr/>
              <p:nvPr/>
            </p:nvGrpSpPr>
            <p:grpSpPr>
              <a:xfrm>
                <a:off x="1156787" y="2907506"/>
                <a:ext cx="467725" cy="1869282"/>
                <a:chOff x="1156787" y="2907506"/>
                <a:chExt cx="467725" cy="1869282"/>
              </a:xfrm>
            </p:grpSpPr>
            <p:sp>
              <p:nvSpPr>
                <p:cNvPr id="26" name="Rectangle 26"/>
                <p:cNvSpPr/>
                <p:nvPr/>
              </p:nvSpPr>
              <p:spPr>
                <a:xfrm>
                  <a:off x="1171575" y="3105150"/>
                  <a:ext cx="438150" cy="1371600"/>
                </a:xfrm>
                <a:prstGeom prst="roundRect">
                  <a:avLst>
                    <a:gd name="adj" fmla="val 6522"/>
                  </a:avLst>
                </a:prstGeom>
                <a:solidFill>
                  <a:srgbClr val="1565C0"/>
                </a:solidFill>
                <a:ln>
                  <a:noFill/>
                </a:ln>
              </p:spPr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1333045" y="2907506"/>
                  <a:ext cx="115211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5" b="1" dirty="0">
                      <a:solidFill>
                        <a:srgbClr val="1F2937"/>
                      </a:solidFill>
                      <a:latin typeface="Arial"/>
                      <a:ea typeface="Microsoft YaHei"/>
                      <a:cs typeface="Arial"/>
                    </a:rPr>
                    <a:t>8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1156787" y="4563428"/>
                  <a:ext cx="467725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rgbClr val="5B6B7B"/>
                      </a:solidFill>
                      <a:latin typeface="Arial"/>
                      <a:ea typeface="Microsoft YaHei"/>
                      <a:cs typeface="Arial"/>
                    </a:rPr>
                    <a:t>第一 IP</a:t>
                  </a:r>
                </a:p>
              </p:txBody>
            </p:sp>
          </p:grpSp>
          <p:grpSp>
            <p:nvGrpSpPr>
              <p:cNvPr id="33" name="Group 33"/>
              <p:cNvGrpSpPr/>
              <p:nvPr/>
            </p:nvGrpSpPr>
            <p:grpSpPr>
              <a:xfrm>
                <a:off x="2118812" y="2221706"/>
                <a:ext cx="467725" cy="2555082"/>
                <a:chOff x="2118812" y="2221706"/>
                <a:chExt cx="467725" cy="2555082"/>
              </a:xfrm>
            </p:grpSpPr>
            <p:sp>
              <p:nvSpPr>
                <p:cNvPr id="30" name="Rectangle 30"/>
                <p:cNvSpPr/>
                <p:nvPr/>
              </p:nvSpPr>
              <p:spPr>
                <a:xfrm>
                  <a:off x="2133600" y="2419350"/>
                  <a:ext cx="438150" cy="2057400"/>
                </a:xfrm>
                <a:prstGeom prst="roundRect">
                  <a:avLst>
                    <a:gd name="adj" fmla="val 6522"/>
                  </a:avLst>
                </a:prstGeom>
                <a:solidFill>
                  <a:srgbClr val="1565C0"/>
                </a:solidFill>
                <a:ln>
                  <a:noFill/>
                </a:ln>
              </p:spPr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2271442" y="2221706"/>
                  <a:ext cx="162467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5" b="1" dirty="0">
                      <a:solidFill>
                        <a:srgbClr val="1F2937"/>
                      </a:solidFill>
                      <a:latin typeface="Arial"/>
                      <a:ea typeface="Microsoft YaHei"/>
                      <a:cs typeface="Arial"/>
                    </a:rPr>
                    <a:t>12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2118812" y="4563428"/>
                  <a:ext cx="467725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rgbClr val="5B6B7B"/>
                      </a:solidFill>
                      <a:latin typeface="Arial"/>
                      <a:ea typeface="Microsoft YaHei"/>
                      <a:cs typeface="Arial"/>
                    </a:rPr>
                    <a:t>第二 IP</a:t>
                  </a:r>
                </a:p>
              </p:txBody>
            </p:sp>
          </p:grpSp>
          <p:grpSp>
            <p:nvGrpSpPr>
              <p:cNvPr id="37" name="Group 37"/>
              <p:cNvGrpSpPr/>
              <p:nvPr/>
            </p:nvGrpSpPr>
            <p:grpSpPr>
              <a:xfrm>
                <a:off x="3080837" y="3764756"/>
                <a:ext cx="467725" cy="1012032"/>
                <a:chOff x="3080837" y="3764756"/>
                <a:chExt cx="467725" cy="1012032"/>
              </a:xfrm>
            </p:grpSpPr>
            <p:sp>
              <p:nvSpPr>
                <p:cNvPr id="34" name="Rectangle 34"/>
                <p:cNvSpPr/>
                <p:nvPr/>
              </p:nvSpPr>
              <p:spPr>
                <a:xfrm>
                  <a:off x="3095625" y="3962400"/>
                  <a:ext cx="438150" cy="514350"/>
                </a:xfrm>
                <a:prstGeom prst="roundRect">
                  <a:avLst>
                    <a:gd name="adj" fmla="val 6522"/>
                  </a:avLst>
                </a:pr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3257095" y="3764756"/>
                  <a:ext cx="115211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5" b="1" dirty="0">
                      <a:solidFill>
                        <a:srgbClr val="1F2937"/>
                      </a:solidFill>
                      <a:latin typeface="Arial"/>
                      <a:ea typeface="Microsoft YaHei"/>
                      <a:cs typeface="Arial"/>
                    </a:rPr>
                    <a:t>3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3080837" y="4563428"/>
                  <a:ext cx="467725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rgbClr val="5B6B7B"/>
                      </a:solidFill>
                      <a:latin typeface="Arial"/>
                      <a:ea typeface="Microsoft YaHei"/>
                      <a:cs typeface="Arial"/>
                    </a:rPr>
                    <a:t>第三 IP</a:t>
                  </a:r>
                </a:p>
              </p:txBody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4042862" y="4230052"/>
                <a:ext cx="467725" cy="546736"/>
                <a:chOff x="4042862" y="4230052"/>
                <a:chExt cx="467725" cy="546736"/>
              </a:xfrm>
            </p:grpSpPr>
            <p:sp>
              <p:nvSpPr>
                <p:cNvPr id="38" name="Rectangle 38"/>
                <p:cNvSpPr/>
                <p:nvPr/>
              </p:nvSpPr>
              <p:spPr>
                <a:xfrm>
                  <a:off x="4057650" y="4429125"/>
                  <a:ext cx="438150" cy="47625"/>
                </a:xfrm>
                <a:prstGeom prst="roundRect">
                  <a:avLst>
                    <a:gd name="adj" fmla="val 40000"/>
                  </a:avLst>
                </a:prstGeom>
                <a:solidFill>
                  <a:srgbClr val="90A4AE"/>
                </a:solidFill>
                <a:ln>
                  <a:noFill/>
                </a:ln>
              </p:spPr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4142100" y="4230052"/>
                  <a:ext cx="269250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rgbClr val="5B6B7B"/>
                      </a:solidFill>
                      <a:latin typeface="Arial"/>
                      <a:ea typeface="Microsoft YaHei"/>
                      <a:cs typeface="Arial"/>
                    </a:rPr>
                    <a:t>0.3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4042862" y="4563428"/>
                  <a:ext cx="467725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rgbClr val="5B6B7B"/>
                      </a:solidFill>
                      <a:latin typeface="Arial"/>
                      <a:ea typeface="Microsoft YaHei"/>
                      <a:cs typeface="Arial"/>
                    </a:rPr>
                    <a:t>第四 IP</a:t>
                  </a:r>
                </a:p>
              </p:txBody>
            </p:sp>
          </p:grpSp>
          <p:grpSp>
            <p:nvGrpSpPr>
              <p:cNvPr id="45" name="Group 45"/>
              <p:cNvGrpSpPr/>
              <p:nvPr/>
            </p:nvGrpSpPr>
            <p:grpSpPr>
              <a:xfrm>
                <a:off x="5004887" y="4230052"/>
                <a:ext cx="467725" cy="546736"/>
                <a:chOff x="5004887" y="4230052"/>
                <a:chExt cx="467725" cy="546736"/>
              </a:xfrm>
            </p:grpSpPr>
            <p:sp>
              <p:nvSpPr>
                <p:cNvPr id="42" name="Rectangle 42"/>
                <p:cNvSpPr/>
                <p:nvPr/>
              </p:nvSpPr>
              <p:spPr>
                <a:xfrm>
                  <a:off x="5019675" y="4410075"/>
                  <a:ext cx="438150" cy="66675"/>
                </a:xfrm>
                <a:prstGeom prst="roundRect">
                  <a:avLst>
                    <a:gd name="adj" fmla="val 28571"/>
                  </a:avLst>
                </a:prstGeom>
                <a:solidFill>
                  <a:srgbClr val="90A4AE"/>
                </a:solidFill>
                <a:ln>
                  <a:noFill/>
                </a:ln>
              </p:spPr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5104125" y="4230052"/>
                  <a:ext cx="269250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rgbClr val="5B6B7B"/>
                      </a:solidFill>
                      <a:latin typeface="Arial"/>
                      <a:ea typeface="Microsoft YaHei"/>
                      <a:cs typeface="Arial"/>
                    </a:rPr>
                    <a:t>0.4</a:t>
                  </a: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5004887" y="4563428"/>
                  <a:ext cx="467725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rgbClr val="5B6B7B"/>
                      </a:solidFill>
                      <a:latin typeface="Arial"/>
                      <a:ea typeface="Microsoft YaHei"/>
                      <a:cs typeface="Arial"/>
                    </a:rPr>
                    <a:t>第五 IP</a:t>
                  </a:r>
                </a:p>
              </p:txBody>
            </p:sp>
          </p:grpSp>
        </p:grpSp>
        <p:grpSp>
          <p:nvGrpSpPr>
            <p:cNvPr id="53" name="Group 53"/>
            <p:cNvGrpSpPr/>
            <p:nvPr/>
          </p:nvGrpSpPr>
          <p:grpSpPr>
            <a:xfrm>
              <a:off x="904875" y="4895850"/>
              <a:ext cx="4365713" cy="207169"/>
              <a:chOff x="904875" y="4895850"/>
              <a:chExt cx="4365713" cy="207169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904875" y="4895850"/>
                <a:ext cx="133350" cy="133350"/>
              </a:xfrm>
              <a:prstGeom prst="roundRect">
                <a:avLst>
                  <a:gd name="adj" fmla="val 14286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1073468" y="4904899"/>
                <a:ext cx="109089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B6B7B"/>
                    </a:solidFill>
                    <a:latin typeface="Arial"/>
                    <a:ea typeface="Microsoft YaHei"/>
                    <a:cs typeface="Arial"/>
                  </a:rPr>
                  <a:t>即時訊息(IP1·IP2)</a:t>
                </a:r>
              </a:p>
            </p:txBody>
          </p:sp>
          <p:sp>
            <p:nvSpPr>
              <p:cNvPr id="49" name="Rectangle 49"/>
              <p:cNvSpPr/>
              <p:nvPr/>
            </p:nvSpPr>
            <p:spPr>
              <a:xfrm>
                <a:off x="2714625" y="4895850"/>
                <a:ext cx="133350" cy="133350"/>
              </a:xfrm>
              <a:prstGeom prst="roundRect">
                <a:avLst>
                  <a:gd name="adj" fmla="val 14286"/>
                </a:avLst>
              </a:pr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2883218" y="4904899"/>
                <a:ext cx="86987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B6B7B"/>
                    </a:solidFill>
                    <a:latin typeface="Arial"/>
                    <a:ea typeface="Microsoft YaHei"/>
                    <a:cs typeface="Arial"/>
                  </a:rPr>
                  <a:t>快照訊息(IP3)</a:t>
                </a:r>
              </a:p>
            </p:txBody>
          </p:sp>
          <p:sp>
            <p:nvSpPr>
              <p:cNvPr id="51" name="Rectangle 51"/>
              <p:cNvSpPr/>
              <p:nvPr/>
            </p:nvSpPr>
            <p:spPr>
              <a:xfrm>
                <a:off x="4238625" y="4895850"/>
                <a:ext cx="133350" cy="133350"/>
              </a:xfrm>
              <a:prstGeom prst="roundRect">
                <a:avLst>
                  <a:gd name="adj" fmla="val 14286"/>
                </a:avLst>
              </a:prstGeom>
              <a:solidFill>
                <a:srgbClr val="90A4AE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4407218" y="4904899"/>
                <a:ext cx="86337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B6B7B"/>
                    </a:solidFill>
                    <a:latin typeface="Arial"/>
                    <a:ea typeface="Microsoft YaHei"/>
                    <a:cs typeface="Arial"/>
                  </a:rPr>
                  <a:t>其他(IP4·IP5)</a:t>
                </a:r>
              </a:p>
            </p:txBody>
          </p:sp>
        </p:grpSp>
      </p:grpSp>
      <p:grpSp>
        <p:nvGrpSpPr>
          <p:cNvPr id="70" name="Group 70"/>
          <p:cNvGrpSpPr/>
          <p:nvPr/>
        </p:nvGrpSpPr>
        <p:grpSpPr>
          <a:xfrm>
            <a:off x="381000" y="5353050"/>
            <a:ext cx="6371439" cy="866775"/>
            <a:chOff x="381000" y="5353050"/>
            <a:chExt cx="6371439" cy="866775"/>
          </a:xfrm>
        </p:grpSpPr>
        <p:sp>
          <p:nvSpPr>
            <p:cNvPr id="55" name="Rectangle 55"/>
            <p:cNvSpPr/>
            <p:nvPr/>
          </p:nvSpPr>
          <p:spPr>
            <a:xfrm>
              <a:off x="381000" y="5353050"/>
              <a:ext cx="1581150" cy="857250"/>
            </a:xfrm>
            <a:prstGeom prst="roundRect">
              <a:avLst>
                <a:gd name="adj" fmla="val 13333"/>
              </a:avLst>
            </a:prstGeom>
            <a:solidFill>
              <a:srgbClr val="F7F9FC"/>
            </a:solidFill>
            <a:ln w="14288">
              <a:solidFill>
                <a:srgbClr val="D9E1EC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40068" y="55335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B"/>
                  </a:solidFill>
                  <a:latin typeface="Arial"/>
                  <a:ea typeface="Microsoft YaHei"/>
                  <a:cs typeface="Arial"/>
                </a:rPr>
                <a:t>5 IP 合計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25780" y="5793105"/>
              <a:ext cx="149412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23.7</a:t>
              </a:r>
              <a:r>
                <a:rPr lang="zh-CN" sz="1050" dirty="0">
                  <a:solidFill>
                    <a:srgbClr val="5B6B7B"/>
                  </a:solidFill>
                  <a:latin typeface="Arial"/>
                  <a:ea typeface="Microsoft YaHei"/>
                  <a:cs typeface="Arial"/>
                </a:rPr>
                <a:t xml:space="preserve"> Mbps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975485" y="5694998"/>
              <a:ext cx="19254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90A4AE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2171700" y="5353050"/>
              <a:ext cx="1581150" cy="857250"/>
            </a:xfrm>
            <a:prstGeom prst="roundRect">
              <a:avLst>
                <a:gd name="adj" fmla="val 13333"/>
              </a:avLst>
            </a:prstGeom>
            <a:solidFill>
              <a:srgbClr val="F7F9FC"/>
            </a:solidFill>
            <a:ln w="14288">
              <a:solidFill>
                <a:srgbClr val="D9E1EC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2330768" y="5533549"/>
              <a:ext cx="733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B"/>
                  </a:solidFill>
                  <a:latin typeface="Arial"/>
                  <a:ea typeface="Microsoft YaHei"/>
                  <a:cs typeface="Arial"/>
                </a:rPr>
                <a:t>含 OTC 流量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316480" y="5793105"/>
              <a:ext cx="133240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≈30</a:t>
              </a:r>
              <a:r>
                <a:rPr lang="zh-CN" sz="1050" dirty="0">
                  <a:solidFill>
                    <a:srgbClr val="5B6B7B"/>
                  </a:solidFill>
                  <a:latin typeface="Arial"/>
                  <a:ea typeface="Microsoft YaHei"/>
                  <a:cs typeface="Arial"/>
                </a:rPr>
                <a:t xml:space="preserve"> Mbps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785235" y="5694998"/>
              <a:ext cx="19254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90A4AE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3962400" y="5353050"/>
              <a:ext cx="1752600" cy="857250"/>
            </a:xfrm>
            <a:prstGeom prst="roundRect">
              <a:avLst>
                <a:gd name="adj" fmla="val 13333"/>
              </a:avLst>
            </a:prstGeom>
            <a:solidFill>
              <a:srgbClr val="C62828">
                <a:alpha val="8000"/>
              </a:srgbClr>
            </a:solidFill>
            <a:ln w="14288">
              <a:solidFill>
                <a:srgbClr val="C62828"/>
              </a:solidFill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4147529" y="5505458"/>
              <a:ext cx="144086" cy="123788"/>
              <a:chOff x="4147529" y="5505458"/>
              <a:chExt cx="144086" cy="123788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4219575" y="5550694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4147529" y="5505458"/>
                <a:ext cx="144086" cy="123788"/>
              </a:xfrm>
              <a:custGeom>
                <a:avLst/>
                <a:gdLst/>
                <a:ahLst/>
                <a:cxnLst/>
                <a:rect l="l" t="t" r="r" b="b"/>
                <a:pathLst>
                  <a:path w="144086" h="123788">
                    <a:moveTo>
                      <a:pt x="60351" y="6595"/>
                    </a:moveTo>
                    <a:lnTo>
                      <a:pt x="2444" y="103279"/>
                    </a:lnTo>
                    <a:cubicBezTo>
                      <a:pt x="15" y="107485"/>
                      <a:pt x="0" y="112665"/>
                      <a:pt x="2405" y="116886"/>
                    </a:cubicBezTo>
                    <a:cubicBezTo>
                      <a:pt x="4810" y="121106"/>
                      <a:pt x="9274" y="123734"/>
                      <a:pt x="14131" y="123788"/>
                    </a:cubicBezTo>
                    <a:lnTo>
                      <a:pt x="129960" y="123788"/>
                    </a:lnTo>
                    <a:cubicBezTo>
                      <a:pt x="134815" y="123732"/>
                      <a:pt x="139276" y="121106"/>
                      <a:pt x="141681" y="116888"/>
                    </a:cubicBezTo>
                    <a:cubicBezTo>
                      <a:pt x="144086" y="112669"/>
                      <a:pt x="144073" y="107492"/>
                      <a:pt x="141647" y="103286"/>
                    </a:cubicBezTo>
                    <a:lnTo>
                      <a:pt x="83740" y="6588"/>
                    </a:lnTo>
                    <a:cubicBezTo>
                      <a:pt x="81262" y="2498"/>
                      <a:pt x="76827" y="0"/>
                      <a:pt x="72046" y="0"/>
                    </a:cubicBezTo>
                    <a:cubicBezTo>
                      <a:pt x="67264" y="0"/>
                      <a:pt x="62829" y="2498"/>
                      <a:pt x="60351" y="6588"/>
                    </a:cubicBez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4219575" y="56007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4350068" y="551449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同收兩條線路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109085" y="5809298"/>
              <a:ext cx="264335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&gt;50</a:t>
              </a:r>
              <a:r>
                <a:rPr lang="zh-CN" sz="975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 xml:space="preserve"> Mbps · 超過上限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191250" y="1110615"/>
            <a:ext cx="2947606" cy="365760"/>
            <a:chOff x="6191250" y="1110615"/>
            <a:chExt cx="2947606" cy="365760"/>
          </a:xfrm>
        </p:grpSpPr>
        <p:sp>
          <p:nvSpPr>
            <p:cNvPr id="71" name="Rectangle 71"/>
            <p:cNvSpPr/>
            <p:nvPr/>
          </p:nvSpPr>
          <p:spPr>
            <a:xfrm>
              <a:off x="6191250" y="1123950"/>
              <a:ext cx="47625" cy="209550"/>
            </a:xfrm>
            <a:prstGeom prst="roundRect">
              <a:avLst>
                <a:gd name="adj" fmla="val 4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320790" y="1110615"/>
              <a:ext cx="281806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改善建議｜頻寬不足因應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6191250" y="1485900"/>
            <a:ext cx="5619750" cy="1257300"/>
            <a:chOff x="6191250" y="1485900"/>
            <a:chExt cx="5619750" cy="1257300"/>
          </a:xfrm>
        </p:grpSpPr>
        <p:sp>
          <p:nvSpPr>
            <p:cNvPr id="74" name="Rectangle 74"/>
            <p:cNvSpPr/>
            <p:nvPr/>
          </p:nvSpPr>
          <p:spPr>
            <a:xfrm>
              <a:off x="6191250" y="1485900"/>
              <a:ext cx="5619750" cy="1257300"/>
            </a:xfrm>
            <a:prstGeom prst="roundRect">
              <a:avLst>
                <a:gd name="adj" fmla="val 9091"/>
              </a:avLst>
            </a:prstGeom>
            <a:solidFill>
              <a:srgbClr val="F7F9FC"/>
            </a:solidFill>
            <a:ln w="14288">
              <a:solidFill>
                <a:srgbClr val="D9E1EC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6372225" y="1666875"/>
              <a:ext cx="400050" cy="4000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516641" y="1764982"/>
              <a:ext cx="1112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grpSp>
          <p:nvGrpSpPr>
            <p:cNvPr id="81" name="Group 81"/>
            <p:cNvGrpSpPr/>
            <p:nvPr/>
          </p:nvGrpSpPr>
          <p:grpSpPr>
            <a:xfrm>
              <a:off x="6979444" y="1749425"/>
              <a:ext cx="157163" cy="139701"/>
              <a:chOff x="6979444" y="1749425"/>
              <a:chExt cx="157163" cy="139701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6979444" y="1819275"/>
                <a:ext cx="157162" cy="43656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43656">
                    <a:moveTo>
                      <a:pt x="157162" y="43656"/>
                    </a:moveTo>
                    <a:lnTo>
                      <a:pt x="87312" y="43656"/>
                    </a:lnTo>
                    <a:lnTo>
                      <a:pt x="56753" y="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7036241" y="1775619"/>
                <a:ext cx="100366" cy="43656"/>
              </a:xfrm>
              <a:custGeom>
                <a:avLst/>
                <a:gdLst/>
                <a:ahLst/>
                <a:cxnLst/>
                <a:rect l="l" t="t" r="r" b="b"/>
                <a:pathLst>
                  <a:path w="100366" h="43656">
                    <a:moveTo>
                      <a:pt x="100366" y="0"/>
                    </a:moveTo>
                    <a:lnTo>
                      <a:pt x="30516" y="0"/>
                    </a:lnTo>
                    <a:lnTo>
                      <a:pt x="0" y="43656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7110412" y="1749425"/>
                <a:ext cx="26194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26194" h="52388">
                    <a:moveTo>
                      <a:pt x="0" y="52388"/>
                    </a:moveTo>
                    <a:lnTo>
                      <a:pt x="26194" y="26194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7110412" y="1836738"/>
                <a:ext cx="26194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26194" h="52388">
                    <a:moveTo>
                      <a:pt x="0" y="52388"/>
                    </a:moveTo>
                    <a:lnTo>
                      <a:pt x="26194" y="26194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7239952" y="1732121"/>
              <a:ext cx="189177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即時／快照 擇一接收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938962" y="2107406"/>
              <a:ext cx="37790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第一·第二 IP 為「</a:t>
              </a:r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即時訊息</a:t>
              </a:r>
              <a:r>
                <a:rPr lang="zh-CN" sz="11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」,第三 IP 為「</a:t>
              </a:r>
              <a:r>
                <a:rPr lang="zh-CN" sz="112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快照訊息</a:t>
              </a:r>
              <a:r>
                <a:rPr lang="zh-CN" sz="11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」。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938962" y="2374106"/>
              <a:ext cx="29614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資訊商應依自身線路頻寬與需求,擇一接收。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6191250" y="2933700"/>
            <a:ext cx="5619750" cy="1257300"/>
            <a:chOff x="6191250" y="2933700"/>
            <a:chExt cx="5619750" cy="1257300"/>
          </a:xfrm>
        </p:grpSpPr>
        <p:sp>
          <p:nvSpPr>
            <p:cNvPr id="86" name="Rectangle 86"/>
            <p:cNvSpPr/>
            <p:nvPr/>
          </p:nvSpPr>
          <p:spPr>
            <a:xfrm>
              <a:off x="6191250" y="2933700"/>
              <a:ext cx="5619750" cy="1257300"/>
            </a:xfrm>
            <a:prstGeom prst="roundRect">
              <a:avLst>
                <a:gd name="adj" fmla="val 9091"/>
              </a:avLst>
            </a:prstGeom>
            <a:solidFill>
              <a:srgbClr val="F7F9FC"/>
            </a:solidFill>
            <a:ln w="14288">
              <a:solidFill>
                <a:srgbClr val="D9E1EC"/>
              </a:solidFill>
            </a:ln>
          </p:spPr>
        </p:sp>
        <p:sp>
          <p:nvSpPr>
            <p:cNvPr id="87" name="Ellipse 87"/>
            <p:cNvSpPr/>
            <p:nvPr/>
          </p:nvSpPr>
          <p:spPr>
            <a:xfrm>
              <a:off x="6372225" y="3114675"/>
              <a:ext cx="400050" cy="4000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487762" y="3212782"/>
              <a:ext cx="1689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grpSp>
          <p:nvGrpSpPr>
            <p:cNvPr id="92" name="Group 92"/>
            <p:cNvGrpSpPr/>
            <p:nvPr/>
          </p:nvGrpSpPr>
          <p:grpSpPr>
            <a:xfrm>
              <a:off x="6979444" y="3188494"/>
              <a:ext cx="157162" cy="157162"/>
              <a:chOff x="6979444" y="3188494"/>
              <a:chExt cx="157162" cy="157162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6979444" y="3310731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3"/>
                    </a:moveTo>
                    <a:cubicBezTo>
                      <a:pt x="0" y="27107"/>
                      <a:pt x="7818" y="34925"/>
                      <a:pt x="17463" y="34925"/>
                    </a:cubicBezTo>
                    <a:cubicBezTo>
                      <a:pt x="27107" y="34925"/>
                      <a:pt x="34925" y="27107"/>
                      <a:pt x="34925" y="17463"/>
                    </a:cubicBezTo>
                    <a:cubicBezTo>
                      <a:pt x="34925" y="7818"/>
                      <a:pt x="27107" y="0"/>
                      <a:pt x="17463" y="0"/>
                    </a:cubicBezTo>
                    <a:cubicBezTo>
                      <a:pt x="7818" y="0"/>
                      <a:pt x="0" y="7818"/>
                      <a:pt x="0" y="17463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7101681" y="3188494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17462" y="34925"/>
                    </a:moveTo>
                    <a:cubicBezTo>
                      <a:pt x="27107" y="34925"/>
                      <a:pt x="34925" y="27107"/>
                      <a:pt x="34925" y="17462"/>
                    </a:cubicBezTo>
                    <a:cubicBezTo>
                      <a:pt x="34925" y="7818"/>
                      <a:pt x="27107" y="0"/>
                      <a:pt x="17462" y="0"/>
                    </a:cubicBezTo>
                    <a:cubicBezTo>
                      <a:pt x="7818" y="0"/>
                      <a:pt x="0" y="7818"/>
                      <a:pt x="0" y="17462"/>
                    </a:cubicBezTo>
                    <a:cubicBezTo>
                      <a:pt x="0" y="27107"/>
                      <a:pt x="7818" y="34925"/>
                      <a:pt x="17462" y="34925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6996906" y="3205956"/>
                <a:ext cx="130969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122238">
                    <a:moveTo>
                      <a:pt x="52388" y="122238"/>
                    </a:moveTo>
                    <a:lnTo>
                      <a:pt x="100409" y="122238"/>
                    </a:lnTo>
                    <a:cubicBezTo>
                      <a:pt x="117287" y="122238"/>
                      <a:pt x="130969" y="108556"/>
                      <a:pt x="130969" y="91678"/>
                    </a:cubicBezTo>
                    <a:cubicBezTo>
                      <a:pt x="130969" y="74801"/>
                      <a:pt x="117287" y="61119"/>
                      <a:pt x="100409" y="61119"/>
                    </a:cubicBezTo>
                    <a:lnTo>
                      <a:pt x="30559" y="61119"/>
                    </a:lnTo>
                    <a:cubicBezTo>
                      <a:pt x="13682" y="61119"/>
                      <a:pt x="0" y="47437"/>
                      <a:pt x="0" y="30559"/>
                    </a:cubicBezTo>
                    <a:cubicBezTo>
                      <a:pt x="0" y="13682"/>
                      <a:pt x="13682" y="0"/>
                      <a:pt x="30559" y="0"/>
                    </a:cubicBezTo>
                    <a:lnTo>
                      <a:pt x="6985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93" name="TextBox 93"/>
            <p:cNvSpPr txBox="1"/>
            <p:nvPr/>
          </p:nvSpPr>
          <p:spPr>
            <a:xfrm>
              <a:off x="7239952" y="3179921"/>
              <a:ext cx="183191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依業務需求分流接收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938962" y="3555206"/>
              <a:ext cx="14612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依業務需求</a:t>
              </a:r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分流接收</a:t>
              </a:r>
              <a:r>
                <a:rPr lang="zh-CN" sz="11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,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938962" y="3821906"/>
              <a:ext cx="26614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或僅接收</a:t>
              </a:r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一份</a:t>
              </a:r>
              <a:r>
                <a:rPr lang="zh-CN" sz="11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行情資訊,降低線路負載。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6191250" y="4381500"/>
            <a:ext cx="5619750" cy="1257300"/>
            <a:chOff x="6191250" y="4381500"/>
            <a:chExt cx="5619750" cy="1257300"/>
          </a:xfrm>
        </p:grpSpPr>
        <p:sp>
          <p:nvSpPr>
            <p:cNvPr id="97" name="Rectangle 97"/>
            <p:cNvSpPr/>
            <p:nvPr/>
          </p:nvSpPr>
          <p:spPr>
            <a:xfrm>
              <a:off x="6191250" y="4381500"/>
              <a:ext cx="5619750" cy="1257300"/>
            </a:xfrm>
            <a:prstGeom prst="roundRect">
              <a:avLst>
                <a:gd name="adj" fmla="val 9091"/>
              </a:avLst>
            </a:prstGeom>
            <a:solidFill>
              <a:srgbClr val="F7F9FC"/>
            </a:solidFill>
            <a:ln w="14288">
              <a:solidFill>
                <a:srgbClr val="D9E1EC"/>
              </a:solidFill>
            </a:ln>
          </p:spPr>
        </p:sp>
        <p:sp>
          <p:nvSpPr>
            <p:cNvPr id="98" name="Ellipse 98"/>
            <p:cNvSpPr/>
            <p:nvPr/>
          </p:nvSpPr>
          <p:spPr>
            <a:xfrm>
              <a:off x="6372225" y="4562475"/>
              <a:ext cx="400050" cy="40005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6487762" y="4660582"/>
              <a:ext cx="1689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grpSp>
          <p:nvGrpSpPr>
            <p:cNvPr id="104" name="Group 104"/>
            <p:cNvGrpSpPr/>
            <p:nvPr/>
          </p:nvGrpSpPr>
          <p:grpSpPr>
            <a:xfrm>
              <a:off x="6979444" y="4636294"/>
              <a:ext cx="157162" cy="157162"/>
              <a:chOff x="6979444" y="4636294"/>
              <a:chExt cx="157162" cy="157162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6979444" y="4636294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78581"/>
                    </a:moveTo>
                    <a:cubicBezTo>
                      <a:pt x="0" y="121980"/>
                      <a:pt x="35182" y="157162"/>
                      <a:pt x="78581" y="157162"/>
                    </a:cubicBezTo>
                    <a:cubicBezTo>
                      <a:pt x="121980" y="157162"/>
                      <a:pt x="157162" y="121980"/>
                      <a:pt x="157162" y="78581"/>
                    </a:cubicBezTo>
                    <a:cubicBezTo>
                      <a:pt x="157162" y="35182"/>
                      <a:pt x="121980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7049294" y="4706144"/>
                <a:ext cx="17462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17462" h="17463">
                    <a:moveTo>
                      <a:pt x="0" y="8731"/>
                    </a:moveTo>
                    <a:cubicBezTo>
                      <a:pt x="0" y="13553"/>
                      <a:pt x="3909" y="17463"/>
                      <a:pt x="8731" y="17463"/>
                    </a:cubicBezTo>
                    <a:cubicBezTo>
                      <a:pt x="13553" y="17463"/>
                      <a:pt x="17462" y="13553"/>
                      <a:pt x="17462" y="8731"/>
                    </a:cubicBezTo>
                    <a:cubicBezTo>
                      <a:pt x="17462" y="3909"/>
                      <a:pt x="13553" y="0"/>
                      <a:pt x="8731" y="0"/>
                    </a:cubicBezTo>
                    <a:cubicBezTo>
                      <a:pt x="3909" y="0"/>
                      <a:pt x="0" y="3909"/>
                      <a:pt x="0" y="8731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7070336" y="4679950"/>
                <a:ext cx="22614" cy="22614"/>
              </a:xfrm>
              <a:custGeom>
                <a:avLst/>
                <a:gdLst/>
                <a:ahLst/>
                <a:cxnLst/>
                <a:rect l="l" t="t" r="r" b="b"/>
                <a:pathLst>
                  <a:path w="22614" h="22614">
                    <a:moveTo>
                      <a:pt x="0" y="22614"/>
                    </a:moveTo>
                    <a:lnTo>
                      <a:pt x="22614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7014369" y="4671219"/>
                <a:ext cx="43656" cy="43656"/>
              </a:xfrm>
              <a:custGeom>
                <a:avLst/>
                <a:gdLst/>
                <a:ahLst/>
                <a:cxnLst/>
                <a:rect l="l" t="t" r="r" b="b"/>
                <a:pathLst>
                  <a:path w="43656" h="43656">
                    <a:moveTo>
                      <a:pt x="0" y="43656"/>
                    </a:moveTo>
                    <a:cubicBezTo>
                      <a:pt x="0" y="19546"/>
                      <a:pt x="19546" y="0"/>
                      <a:pt x="43656" y="0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105" name="TextBox 105"/>
            <p:cNvSpPr txBox="1"/>
            <p:nvPr/>
          </p:nvSpPr>
          <p:spPr>
            <a:xfrm>
              <a:off x="7239952" y="4627721"/>
              <a:ext cx="16323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提升硬體線路頻寬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6938962" y="500300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電作部已於去年 </a:t>
              </a:r>
              <a:r>
                <a:rPr lang="zh-CN" sz="11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12 月底發文</a:t>
              </a:r>
              <a:r>
                <a:rPr lang="zh-CN" sz="11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,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6938962" y="5269706"/>
              <a:ext cx="25188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全市場可申請 </a:t>
              </a:r>
              <a:r>
                <a:rPr lang="zh-CN" sz="11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70M／100M</a:t>
              </a:r>
              <a:r>
                <a:rPr lang="zh-CN" sz="11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線路升速。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6191250" y="5772150"/>
            <a:ext cx="5619750" cy="438150"/>
            <a:chOff x="6191250" y="5772150"/>
            <a:chExt cx="5619750" cy="438150"/>
          </a:xfrm>
        </p:grpSpPr>
        <p:sp>
          <p:nvSpPr>
            <p:cNvPr id="109" name="Rectangle 109"/>
            <p:cNvSpPr/>
            <p:nvPr/>
          </p:nvSpPr>
          <p:spPr>
            <a:xfrm>
              <a:off x="6191250" y="5772150"/>
              <a:ext cx="5619750" cy="438150"/>
            </a:xfrm>
            <a:prstGeom prst="roundRect">
              <a:avLst>
                <a:gd name="adj" fmla="val 21739"/>
              </a:avLst>
            </a:prstGeom>
            <a:solidFill>
              <a:srgbClr val="1565C0">
                <a:alpha val="8000"/>
              </a:srgbClr>
            </a:solidFill>
            <a:ln w="11430">
              <a:solidFill>
                <a:srgbClr val="1565C0"/>
              </a:solidFill>
            </a:ln>
          </p:spPr>
        </p:sp>
        <p:grpSp>
          <p:nvGrpSpPr>
            <p:cNvPr id="113" name="Group 113"/>
            <p:cNvGrpSpPr/>
            <p:nvPr/>
          </p:nvGrpSpPr>
          <p:grpSpPr>
            <a:xfrm>
              <a:off x="6375400" y="5937250"/>
              <a:ext cx="127000" cy="127000"/>
              <a:chOff x="6375400" y="5937250"/>
              <a:chExt cx="127000" cy="127000"/>
            </a:xfrm>
          </p:grpSpPr>
          <p:sp>
            <p:nvSpPr>
              <p:cNvPr id="110" name="Freeform 110"/>
              <p:cNvSpPr/>
              <p:nvPr/>
            </p:nvSpPr>
            <p:spPr>
              <a:xfrm>
                <a:off x="6375400" y="5953125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63500" y="0"/>
                    </a:moveTo>
                    <a:lnTo>
                      <a:pt x="15875" y="0"/>
                    </a:lnTo>
                    <a:cubicBezTo>
                      <a:pt x="7107" y="0"/>
                      <a:pt x="0" y="7107"/>
                      <a:pt x="0" y="15875"/>
                    </a:cubicBezTo>
                    <a:lnTo>
                      <a:pt x="0" y="95250"/>
                    </a:lnTo>
                    <a:cubicBezTo>
                      <a:pt x="0" y="104018"/>
                      <a:pt x="7107" y="111125"/>
                      <a:pt x="15875" y="111125"/>
                    </a:cubicBezTo>
                    <a:lnTo>
                      <a:pt x="95250" y="111125"/>
                    </a:lnTo>
                    <a:cubicBezTo>
                      <a:pt x="104018" y="111125"/>
                      <a:pt x="111125" y="104018"/>
                      <a:pt x="111125" y="95250"/>
                    </a:cubicBezTo>
                    <a:lnTo>
                      <a:pt x="111125" y="4762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11" name="Freeform 111"/>
              <p:cNvSpPr/>
              <p:nvPr/>
            </p:nvSpPr>
            <p:spPr>
              <a:xfrm>
                <a:off x="6430962" y="5937250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71438"/>
                    </a:move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12" name="Freeform 112"/>
              <p:cNvSpPr/>
              <p:nvPr/>
            </p:nvSpPr>
            <p:spPr>
              <a:xfrm>
                <a:off x="6462712" y="5937250"/>
                <a:ext cx="39687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39687">
                    <a:moveTo>
                      <a:pt x="0" y="0"/>
                    </a:moveTo>
                    <a:lnTo>
                      <a:pt x="39687" y="0"/>
                    </a:lnTo>
                    <a:lnTo>
                      <a:pt x="39687" y="39687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14" name="TextBox 114"/>
            <p:cNvSpPr txBox="1"/>
            <p:nvPr/>
          </p:nvSpPr>
          <p:spPr>
            <a:xfrm>
              <a:off x="6617970" y="5941695"/>
              <a:ext cx="49434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申請參考:dsp.twse.com.tw/official/showDetail/04BFB3A4DBC211F0AC832D9568472C08</a:t>
              </a:r>
            </a:p>
          </p:txBody>
        </p:sp>
      </p:grpSp>
      <p:sp>
        <p:nvSpPr>
          <p:cNvPr id="116" name="TextBox 116"/>
          <p:cNvSpPr txBox="1"/>
          <p:nvPr/>
        </p:nvSpPr>
        <p:spPr>
          <a:xfrm>
            <a:off x="370522" y="6464141"/>
            <a:ext cx="43719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資料來源:臺灣證券交易所 行情傳輸統計(2026/6/25 09:05 尖峰) · OTC 為櫃買中心行情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70" grpId="0"/>
      <p:bldP spid="85" grpId="0"/>
      <p:bldP spid="96" grpId="0"/>
      <p:bldP spid="108" grpId="0"/>
      <p:bldP spid="11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